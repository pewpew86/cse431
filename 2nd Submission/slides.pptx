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Average"/>
      <p:regular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Oswald-regular.fntdata"/><Relationship Id="rId10" Type="http://schemas.openxmlformats.org/officeDocument/2006/relationships/slide" Target="slides/slide5.xml"/><Relationship Id="rId21" Type="http://schemas.openxmlformats.org/officeDocument/2006/relationships/font" Target="fonts/Average-regular.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9a4b419d1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9a4b419d1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9a4b419d1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9a4b419d1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9a4b419d1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9a4b419d1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9a4b419d1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9a4b419d1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9a4b419d1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9a4b419d1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9a4b419d1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9a4b419d1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9a4b419d1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9a4b419d1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9a4b419d1d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9a4b419d1d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9a4b419d1d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9a4b419d1d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a4b419d1d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9a4b419d1d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696325"/>
            <a:ext cx="8123100" cy="2123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511"/>
              <a:t>C</a:t>
            </a:r>
            <a:r>
              <a:rPr lang="en" sz="2511"/>
              <a:t>ontext-Based Feature Technique for Sarcasm Identification in Benchmark Datasets Using Deep Learning and BERT Model</a:t>
            </a:r>
            <a:br>
              <a:rPr lang="en" sz="2511"/>
            </a:br>
            <a:br>
              <a:rPr lang="en" sz="2400"/>
            </a:br>
            <a:r>
              <a:rPr lang="en" sz="1300"/>
              <a:t>CHRISTOPHER IFEANYI EKE 1,2, AZAH ANIR NORMAN 1 , AND LIYANA SHUIB 1 1Department of Information Systems, Faculty of Computer Science and Information Technology, University of Malaya, Kuala Lumpur 50603, Malaysia 2Department of Computer Science, Faculty of Computing, Federal University, P.M.B 046, Lafia, Nigeria Corresponding authors: Azah Anir Norman (azahnorman@um.edu.my) and Liyana Shuib (liyanashuib@um.edu.my)</a:t>
            </a:r>
            <a:endParaRPr sz="1300"/>
          </a:p>
        </p:txBody>
      </p:sp>
      <p:sp>
        <p:nvSpPr>
          <p:cNvPr id="60" name="Google Shape;60;p13"/>
          <p:cNvSpPr txBox="1"/>
          <p:nvPr>
            <p:ph idx="1" type="subTitle"/>
          </p:nvPr>
        </p:nvSpPr>
        <p:spPr>
          <a:xfrm>
            <a:off x="510450" y="3182335"/>
            <a:ext cx="8123100" cy="112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Golam Rabbi</a:t>
            </a:r>
            <a:br>
              <a:rPr lang="en"/>
            </a:br>
            <a:r>
              <a:rPr lang="en"/>
              <a:t>ID : 20101086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t>
            </a:r>
            <a:endParaRPr/>
          </a:p>
        </p:txBody>
      </p:sp>
      <p:sp>
        <p:nvSpPr>
          <p:cNvPr id="66" name="Google Shape;66;p14"/>
          <p:cNvSpPr txBox="1"/>
          <p:nvPr>
            <p:ph idx="1" type="body"/>
          </p:nvPr>
        </p:nvSpPr>
        <p:spPr>
          <a:xfrm>
            <a:off x="311700" y="1580925"/>
            <a:ext cx="8520600" cy="298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Natural language processing tools like sentiment analysis and opinion mining struggle to identify sarcasm in textual data.The research presents a context-based feature strategy using deep learning and BERT model to capture sarcastic expressions' important information and sentiment polarity.The research compares the strategy to baseline methods based on language, pattern, and behavioral aspects on three Twitter and Internet Argument Corpus benchmark datasets.The article reveals that context and sentiment polarity are crucial to sarcasm identification, since the strategy beats baseline methods.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Significance and Objective: </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t>A unique context-based feature strategy for textual sarcasm identification using deep learning, BERT, and feature fusion is proposed.</a:t>
            </a:r>
            <a:endParaRPr sz="1350"/>
          </a:p>
          <a:p>
            <a:pPr indent="0" lvl="0" marL="0" rtl="0" algn="l">
              <a:spcBef>
                <a:spcPts val="1200"/>
              </a:spcBef>
              <a:spcAft>
                <a:spcPts val="0"/>
              </a:spcAft>
              <a:buNone/>
            </a:pPr>
            <a:r>
              <a:rPr lang="en" sz="1350"/>
              <a:t>It addresses the issues of obtaining contextual information and sentiment polarity in sarcastic utterances, which prior research have ignored.It shows that the suggested method outperforms baseline methods in precision, recall, accuracy, and f-measure on three Twitter and Internet Argument Corpus benchmark datasets.</a:t>
            </a:r>
            <a:endParaRPr sz="1350"/>
          </a:p>
          <a:p>
            <a:pPr indent="0" lvl="0" marL="0" rtl="0" algn="l">
              <a:spcBef>
                <a:spcPts val="1200"/>
              </a:spcBef>
              <a:spcAft>
                <a:spcPts val="0"/>
              </a:spcAft>
              <a:buNone/>
            </a:pPr>
            <a:r>
              <a:rPr lang="en" sz="1350"/>
              <a:t>Sarcasm identification, sentiment analysis, and natural language processing benefit from its thorough and effective approach to numerous forms and sources of sarcasm.</a:t>
            </a:r>
            <a:endParaRPr sz="135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a:t>
            </a:r>
            <a:endParaRPr/>
          </a:p>
        </p:txBody>
      </p:sp>
      <p:sp>
        <p:nvSpPr>
          <p:cNvPr id="78" name="Google Shape;78;p16"/>
          <p:cNvSpPr txBox="1"/>
          <p:nvPr>
            <p:ph idx="1" type="body"/>
          </p:nvPr>
        </p:nvSpPr>
        <p:spPr>
          <a:xfrm>
            <a:off x="311700" y="1152475"/>
            <a:ext cx="8520600" cy="349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solidFill>
                  <a:srgbClr val="B7B7B7"/>
                </a:solidFill>
              </a:rPr>
              <a:t>Overview of Datasets for Sarcasm Identification</a:t>
            </a:r>
            <a:endParaRPr sz="1350">
              <a:solidFill>
                <a:srgbClr val="B7B7B7"/>
              </a:solidFill>
            </a:endParaRPr>
          </a:p>
          <a:p>
            <a:pPr indent="-314325" lvl="0" marL="457200" rtl="0" algn="l">
              <a:spcBef>
                <a:spcPts val="1500"/>
              </a:spcBef>
              <a:spcAft>
                <a:spcPts val="0"/>
              </a:spcAft>
              <a:buClr>
                <a:srgbClr val="B7B7B7"/>
              </a:buClr>
              <a:buSzPts val="1350"/>
              <a:buFont typeface="Average"/>
              <a:buChar char="●"/>
            </a:pPr>
            <a:r>
              <a:rPr lang="en" sz="1350">
                <a:solidFill>
                  <a:srgbClr val="B7B7B7"/>
                </a:solidFill>
              </a:rPr>
              <a:t>Twitter Datasets</a:t>
            </a:r>
            <a:endParaRPr sz="1350">
              <a:solidFill>
                <a:srgbClr val="B7B7B7"/>
              </a:solidFill>
            </a:endParaRPr>
          </a:p>
          <a:p>
            <a:pPr indent="-314325" lvl="1" marL="914400" rtl="0" algn="l">
              <a:spcBef>
                <a:spcPts val="0"/>
              </a:spcBef>
              <a:spcAft>
                <a:spcPts val="0"/>
              </a:spcAft>
              <a:buClr>
                <a:srgbClr val="B7B7B7"/>
              </a:buClr>
              <a:buSzPts val="1350"/>
              <a:buFont typeface="Average"/>
              <a:buChar char="●"/>
            </a:pPr>
            <a:r>
              <a:rPr lang="en" sz="1350">
                <a:solidFill>
                  <a:srgbClr val="B7B7B7"/>
                </a:solidFill>
              </a:rPr>
              <a:t>Collected by Riloff et al. and Ghosh and Veale</a:t>
            </a:r>
            <a:endParaRPr sz="1350">
              <a:solidFill>
                <a:srgbClr val="B7B7B7"/>
              </a:solidFill>
            </a:endParaRPr>
          </a:p>
          <a:p>
            <a:pPr indent="-314325" lvl="1" marL="914400" rtl="0" algn="l">
              <a:spcBef>
                <a:spcPts val="0"/>
              </a:spcBef>
              <a:spcAft>
                <a:spcPts val="0"/>
              </a:spcAft>
              <a:buClr>
                <a:srgbClr val="B7B7B7"/>
              </a:buClr>
              <a:buSzPts val="1350"/>
              <a:buFont typeface="Average"/>
              <a:buChar char="●"/>
            </a:pPr>
            <a:r>
              <a:rPr lang="en" sz="1350">
                <a:solidFill>
                  <a:srgbClr val="B7B7B7"/>
                </a:solidFill>
              </a:rPr>
              <a:t>Features:</a:t>
            </a:r>
            <a:endParaRPr sz="1350">
              <a:solidFill>
                <a:srgbClr val="B7B7B7"/>
              </a:solidFill>
            </a:endParaRPr>
          </a:p>
          <a:p>
            <a:pPr indent="-314325" lvl="2" marL="1371600" rtl="0" algn="l">
              <a:spcBef>
                <a:spcPts val="0"/>
              </a:spcBef>
              <a:spcAft>
                <a:spcPts val="0"/>
              </a:spcAft>
              <a:buClr>
                <a:srgbClr val="B7B7B7"/>
              </a:buClr>
              <a:buSzPts val="1350"/>
              <a:buFont typeface="Average"/>
              <a:buChar char="●"/>
            </a:pPr>
            <a:r>
              <a:rPr lang="en" sz="1350">
                <a:solidFill>
                  <a:srgbClr val="B7B7B7"/>
                </a:solidFill>
              </a:rPr>
              <a:t>Tweets manually annotated as sarcastic or non-sarcastic</a:t>
            </a:r>
            <a:endParaRPr sz="1350">
              <a:solidFill>
                <a:srgbClr val="B7B7B7"/>
              </a:solidFill>
            </a:endParaRPr>
          </a:p>
          <a:p>
            <a:pPr indent="-314325" lvl="2" marL="1371600" rtl="0" algn="l">
              <a:spcBef>
                <a:spcPts val="0"/>
              </a:spcBef>
              <a:spcAft>
                <a:spcPts val="0"/>
              </a:spcAft>
              <a:buClr>
                <a:srgbClr val="B7B7B7"/>
              </a:buClr>
              <a:buSzPts val="1350"/>
              <a:buFont typeface="Average"/>
              <a:buChar char="●"/>
            </a:pPr>
            <a:r>
              <a:rPr lang="en" sz="1350">
                <a:solidFill>
                  <a:srgbClr val="B7B7B7"/>
                </a:solidFill>
              </a:rPr>
              <a:t>Short, informal format with hashtags, emoticons, special characters</a:t>
            </a:r>
            <a:endParaRPr sz="1350">
              <a:solidFill>
                <a:srgbClr val="B7B7B7"/>
              </a:solidFill>
            </a:endParaRPr>
          </a:p>
          <a:p>
            <a:pPr indent="-314325" lvl="0" marL="457200" rtl="0" algn="l">
              <a:spcBef>
                <a:spcPts val="0"/>
              </a:spcBef>
              <a:spcAft>
                <a:spcPts val="0"/>
              </a:spcAft>
              <a:buClr>
                <a:srgbClr val="B7B7B7"/>
              </a:buClr>
              <a:buSzPts val="1350"/>
              <a:buFont typeface="Average"/>
              <a:buChar char="●"/>
            </a:pPr>
            <a:r>
              <a:rPr lang="en" sz="1350">
                <a:solidFill>
                  <a:srgbClr val="B7B7B7"/>
                </a:solidFill>
              </a:rPr>
              <a:t>Internet Argument Corpus (IAC-v2)</a:t>
            </a:r>
            <a:endParaRPr sz="1350">
              <a:solidFill>
                <a:srgbClr val="B7B7B7"/>
              </a:solidFill>
            </a:endParaRPr>
          </a:p>
          <a:p>
            <a:pPr indent="-314325" lvl="1" marL="914400" rtl="0" algn="l">
              <a:spcBef>
                <a:spcPts val="0"/>
              </a:spcBef>
              <a:spcAft>
                <a:spcPts val="0"/>
              </a:spcAft>
              <a:buClr>
                <a:srgbClr val="B7B7B7"/>
              </a:buClr>
              <a:buSzPts val="1350"/>
              <a:buFont typeface="Average"/>
              <a:buChar char="●"/>
            </a:pPr>
            <a:r>
              <a:rPr lang="en" sz="1350">
                <a:solidFill>
                  <a:srgbClr val="B7B7B7"/>
                </a:solidFill>
              </a:rPr>
              <a:t>Collected from online discussion forums by Walker et al.</a:t>
            </a:r>
            <a:endParaRPr sz="1350">
              <a:solidFill>
                <a:srgbClr val="B7B7B7"/>
              </a:solidFill>
            </a:endParaRPr>
          </a:p>
          <a:p>
            <a:pPr indent="-314325" lvl="1" marL="914400" rtl="0" algn="l">
              <a:spcBef>
                <a:spcPts val="0"/>
              </a:spcBef>
              <a:spcAft>
                <a:spcPts val="0"/>
              </a:spcAft>
              <a:buClr>
                <a:srgbClr val="B7B7B7"/>
              </a:buClr>
              <a:buSzPts val="1350"/>
              <a:buFont typeface="Average"/>
              <a:buChar char="●"/>
            </a:pPr>
            <a:r>
              <a:rPr lang="en" sz="1350">
                <a:solidFill>
                  <a:srgbClr val="B7B7B7"/>
                </a:solidFill>
              </a:rPr>
              <a:t>Features:</a:t>
            </a:r>
            <a:endParaRPr sz="1350">
              <a:solidFill>
                <a:srgbClr val="B7B7B7"/>
              </a:solidFill>
            </a:endParaRPr>
          </a:p>
          <a:p>
            <a:pPr indent="-314325" lvl="2" marL="1371600" rtl="0" algn="l">
              <a:spcBef>
                <a:spcPts val="0"/>
              </a:spcBef>
              <a:spcAft>
                <a:spcPts val="0"/>
              </a:spcAft>
              <a:buClr>
                <a:srgbClr val="B7B7B7"/>
              </a:buClr>
              <a:buSzPts val="1350"/>
              <a:buFont typeface="Average"/>
              <a:buChar char="●"/>
            </a:pPr>
            <a:r>
              <a:rPr lang="en" sz="1350">
                <a:solidFill>
                  <a:srgbClr val="B7B7B7"/>
                </a:solidFill>
              </a:rPr>
              <a:t>Longer, complex posts labeled by authors themselves</a:t>
            </a:r>
            <a:endParaRPr sz="1350">
              <a:solidFill>
                <a:srgbClr val="B7B7B7"/>
              </a:solidFill>
            </a:endParaRPr>
          </a:p>
          <a:p>
            <a:pPr indent="-314325" lvl="2" marL="1371600" rtl="0" algn="l">
              <a:spcBef>
                <a:spcPts val="0"/>
              </a:spcBef>
              <a:spcAft>
                <a:spcPts val="0"/>
              </a:spcAft>
              <a:buClr>
                <a:srgbClr val="B7B7B7"/>
              </a:buClr>
              <a:buSzPts val="1350"/>
              <a:buFont typeface="Average"/>
              <a:buChar char="●"/>
            </a:pPr>
            <a:r>
              <a:rPr lang="en" sz="1350">
                <a:solidFill>
                  <a:srgbClr val="B7B7B7"/>
                </a:solidFill>
              </a:rPr>
              <a:t>Argumentative style with irony, exaggeration, rhetorical questions</a:t>
            </a:r>
            <a:endParaRPr sz="1350">
              <a:solidFill>
                <a:srgbClr val="B7B7B7"/>
              </a:solidFill>
            </a:endParaRPr>
          </a:p>
          <a:p>
            <a:pPr indent="0" lvl="0" marL="0" rtl="0" algn="l">
              <a:spcBef>
                <a:spcPts val="15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solidFill>
                  <a:srgbClr val="999999"/>
                </a:solidFill>
              </a:rPr>
              <a:t>Twitter Datasets - Size and Composition</a:t>
            </a:r>
            <a:endParaRPr sz="1350">
              <a:solidFill>
                <a:srgbClr val="999999"/>
              </a:solidFill>
            </a:endParaRPr>
          </a:p>
          <a:p>
            <a:pPr indent="-314325" lvl="0" marL="457200" rtl="0" algn="l">
              <a:spcBef>
                <a:spcPts val="1500"/>
              </a:spcBef>
              <a:spcAft>
                <a:spcPts val="0"/>
              </a:spcAft>
              <a:buClr>
                <a:srgbClr val="999999"/>
              </a:buClr>
              <a:buSzPts val="1350"/>
              <a:buFont typeface="Average"/>
              <a:buChar char="●"/>
            </a:pPr>
            <a:r>
              <a:rPr lang="en" sz="1350">
                <a:solidFill>
                  <a:srgbClr val="999999"/>
                </a:solidFill>
              </a:rPr>
              <a:t>Riloff et al. Dataset</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Total Tweets: 2,278</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Composition:</a:t>
            </a:r>
            <a:endParaRPr sz="1350">
              <a:solidFill>
                <a:srgbClr val="999999"/>
              </a:solidFill>
            </a:endParaRPr>
          </a:p>
          <a:p>
            <a:pPr indent="-314325" lvl="2" marL="1371600" rtl="0" algn="l">
              <a:spcBef>
                <a:spcPts val="0"/>
              </a:spcBef>
              <a:spcAft>
                <a:spcPts val="0"/>
              </a:spcAft>
              <a:buClr>
                <a:srgbClr val="999999"/>
              </a:buClr>
              <a:buSzPts val="1350"/>
              <a:buFont typeface="Average"/>
              <a:buChar char="●"/>
            </a:pPr>
            <a:r>
              <a:rPr lang="en" sz="1350">
                <a:solidFill>
                  <a:srgbClr val="999999"/>
                </a:solidFill>
              </a:rPr>
              <a:t>Sarcastic: 506</a:t>
            </a:r>
            <a:endParaRPr sz="1350">
              <a:solidFill>
                <a:srgbClr val="999999"/>
              </a:solidFill>
            </a:endParaRPr>
          </a:p>
          <a:p>
            <a:pPr indent="-314325" lvl="2" marL="1371600" rtl="0" algn="l">
              <a:spcBef>
                <a:spcPts val="0"/>
              </a:spcBef>
              <a:spcAft>
                <a:spcPts val="0"/>
              </a:spcAft>
              <a:buClr>
                <a:srgbClr val="999999"/>
              </a:buClr>
              <a:buSzPts val="1350"/>
              <a:buFont typeface="Average"/>
              <a:buChar char="●"/>
            </a:pPr>
            <a:r>
              <a:rPr lang="en" sz="1350">
                <a:solidFill>
                  <a:srgbClr val="999999"/>
                </a:solidFill>
              </a:rPr>
              <a:t>Non-sarcastic: 1,772</a:t>
            </a:r>
            <a:endParaRPr sz="1350">
              <a:solidFill>
                <a:srgbClr val="999999"/>
              </a:solidFill>
            </a:endParaRPr>
          </a:p>
          <a:p>
            <a:pPr indent="-314325" lvl="0" marL="457200" rtl="0" algn="l">
              <a:spcBef>
                <a:spcPts val="0"/>
              </a:spcBef>
              <a:spcAft>
                <a:spcPts val="0"/>
              </a:spcAft>
              <a:buClr>
                <a:srgbClr val="999999"/>
              </a:buClr>
              <a:buSzPts val="1350"/>
              <a:buFont typeface="Average"/>
              <a:buChar char="●"/>
            </a:pPr>
            <a:r>
              <a:rPr lang="en" sz="1350">
                <a:solidFill>
                  <a:srgbClr val="999999"/>
                </a:solidFill>
              </a:rPr>
              <a:t>Ghosh and Veale Dataset</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Total Tweets: 2,205</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Includes 1,115 tweets with sarcasm hashtag</a:t>
            </a:r>
            <a:endParaRPr sz="1350">
              <a:solidFill>
                <a:srgbClr val="999999"/>
              </a:solidFill>
            </a:endParaRPr>
          </a:p>
          <a:p>
            <a:pPr indent="0" lvl="0" marL="0" rtl="0" algn="l">
              <a:spcBef>
                <a:spcPts val="15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solidFill>
                  <a:srgbClr val="999999"/>
                </a:solidFill>
              </a:rPr>
              <a:t>Internet Argument Corpus (IAC-v2) - Size and Composition</a:t>
            </a:r>
            <a:endParaRPr sz="1350">
              <a:solidFill>
                <a:srgbClr val="999999"/>
              </a:solidFill>
            </a:endParaRPr>
          </a:p>
          <a:p>
            <a:pPr indent="-314325" lvl="0" marL="457200" rtl="0" algn="l">
              <a:spcBef>
                <a:spcPts val="1500"/>
              </a:spcBef>
              <a:spcAft>
                <a:spcPts val="0"/>
              </a:spcAft>
              <a:buClr>
                <a:srgbClr val="999999"/>
              </a:buClr>
              <a:buSzPts val="1350"/>
              <a:buFont typeface="Average"/>
              <a:buChar char="●"/>
            </a:pPr>
            <a:r>
              <a:rPr lang="en" sz="1350">
                <a:solidFill>
                  <a:srgbClr val="999999"/>
                </a:solidFill>
              </a:rPr>
              <a:t>Total Posts Across Subsets</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4forums: 414,000 posts</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ConvinceMe: 65,000 posts</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CreateDebate Sample: 3,000 posts</a:t>
            </a:r>
            <a:endParaRPr sz="1350">
              <a:solidFill>
                <a:srgbClr val="999999"/>
              </a:solidFill>
            </a:endParaRPr>
          </a:p>
          <a:p>
            <a:pPr indent="-314325" lvl="0" marL="457200" rtl="0" algn="l">
              <a:spcBef>
                <a:spcPts val="0"/>
              </a:spcBef>
              <a:spcAft>
                <a:spcPts val="0"/>
              </a:spcAft>
              <a:buClr>
                <a:srgbClr val="999999"/>
              </a:buClr>
              <a:buSzPts val="1350"/>
              <a:buFont typeface="Average"/>
              <a:buChar char="●"/>
            </a:pPr>
            <a:r>
              <a:rPr lang="en" sz="1350">
                <a:solidFill>
                  <a:srgbClr val="999999"/>
                </a:solidFill>
              </a:rPr>
              <a:t>Specific to Sarcasm</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Generic Sarcasm Subset (GEN): 6,520 posts (3,260 sarcastic and 3,260 non-sarcastic)</a:t>
            </a:r>
            <a:endParaRPr sz="1350">
              <a:solidFill>
                <a:srgbClr val="999999"/>
              </a:solidFill>
            </a:endParaRPr>
          </a:p>
          <a:p>
            <a:pPr indent="-314325" lvl="1" marL="914400" rtl="0" algn="l">
              <a:spcBef>
                <a:spcPts val="0"/>
              </a:spcBef>
              <a:spcAft>
                <a:spcPts val="0"/>
              </a:spcAft>
              <a:buClr>
                <a:srgbClr val="999999"/>
              </a:buClr>
              <a:buSzPts val="1350"/>
              <a:buFont typeface="Average"/>
              <a:buChar char="●"/>
            </a:pPr>
            <a:r>
              <a:rPr lang="en" sz="1350">
                <a:solidFill>
                  <a:srgbClr val="999999"/>
                </a:solidFill>
              </a:rPr>
              <a:t>HYP and RQ Samples: 582 and 851 posts per class, respectively</a:t>
            </a:r>
            <a:endParaRPr sz="1350">
              <a:solidFill>
                <a:srgbClr val="999999"/>
              </a:solidFill>
            </a:endParaRPr>
          </a:p>
          <a:p>
            <a:pPr indent="0" lvl="0" marL="0" rtl="0" algn="l">
              <a:spcBef>
                <a:spcPts val="15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in real life scenario: </a:t>
            </a:r>
            <a:endParaRPr/>
          </a:p>
        </p:txBody>
      </p:sp>
      <p:sp>
        <p:nvSpPr>
          <p:cNvPr id="96" name="Google Shape;96;p19"/>
          <p:cNvSpPr txBox="1"/>
          <p:nvPr>
            <p:ph idx="1" type="body"/>
          </p:nvPr>
        </p:nvSpPr>
        <p:spPr>
          <a:xfrm>
            <a:off x="311700" y="1152475"/>
            <a:ext cx="8030100" cy="38889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400">
                <a:solidFill>
                  <a:srgbClr val="999999"/>
                </a:solidFill>
              </a:rPr>
              <a:t>Real-Life Applications of Sarcasm Identification:</a:t>
            </a:r>
            <a:endParaRPr sz="5400">
              <a:solidFill>
                <a:srgbClr val="999999"/>
              </a:solidFill>
            </a:endParaRPr>
          </a:p>
          <a:p>
            <a:pPr indent="-314325" lvl="1" marL="914400" rtl="0" algn="l">
              <a:spcBef>
                <a:spcPts val="1500"/>
              </a:spcBef>
              <a:spcAft>
                <a:spcPts val="0"/>
              </a:spcAft>
              <a:buClr>
                <a:srgbClr val="999999"/>
              </a:buClr>
              <a:buSzPct val="100000"/>
              <a:buFont typeface="Average"/>
              <a:buChar char="●"/>
            </a:pPr>
            <a:r>
              <a:rPr lang="en" sz="5400">
                <a:solidFill>
                  <a:srgbClr val="999999"/>
                </a:solidFill>
              </a:rPr>
              <a:t>Importance of understanding and interpreting sarcasm in textual data</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Diverse applications in various fields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Identifying sarcasm for accurate sentiment analysis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Monitoring public sentiment about products/services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Differentiating sarcastic comments from positive feedback</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Enhancing text-based customer interactions</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Understanding customer sentiment accurately</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Identifying sarcasm for effective communication responses</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Improving user-generated content management</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Moderating comments with contextual understanding</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Aiding in sentiment analysis of user comments</a:t>
            </a:r>
            <a:endParaRPr sz="5400">
              <a:solidFill>
                <a:srgbClr val="999999"/>
              </a:solidFill>
            </a:endParaRPr>
          </a:p>
          <a:p>
            <a:pPr indent="-314325" lvl="0" marL="914400" rtl="0" algn="l">
              <a:spcBef>
                <a:spcPts val="0"/>
              </a:spcBef>
              <a:spcAft>
                <a:spcPts val="0"/>
              </a:spcAft>
              <a:buClr>
                <a:srgbClr val="999999"/>
              </a:buClr>
              <a:buSzPct val="100000"/>
              <a:buFont typeface="Average"/>
              <a:buChar char="●"/>
            </a:pPr>
            <a:r>
              <a:rPr lang="en" sz="5400">
                <a:solidFill>
                  <a:srgbClr val="999999"/>
                </a:solidFill>
              </a:rPr>
              <a:t>K Achieving deeper insights into customer opinions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Analyzing reviews and feedback with sarcasm detection</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Gaining accurate understanding of customer perspectives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Enhancing political discourse analysis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Interpreting social media discussions in political contexts</a:t>
            </a:r>
            <a:endParaRPr sz="5400">
              <a:solidFill>
                <a:srgbClr val="999999"/>
              </a:solidFill>
            </a:endParaRPr>
          </a:p>
          <a:p>
            <a:pPr indent="-314325" lvl="1" marL="914400" rtl="0" algn="l">
              <a:spcBef>
                <a:spcPts val="0"/>
              </a:spcBef>
              <a:spcAft>
                <a:spcPts val="0"/>
              </a:spcAft>
              <a:buClr>
                <a:srgbClr val="999999"/>
              </a:buClr>
              <a:buSzPct val="100000"/>
              <a:buFont typeface="Average"/>
              <a:buChar char="●"/>
            </a:pPr>
            <a:r>
              <a:rPr lang="en" sz="5400">
                <a:solidFill>
                  <a:srgbClr val="999999"/>
                </a:solidFill>
              </a:rPr>
              <a:t>Gaining nuanced insights into public sentiment</a:t>
            </a:r>
            <a:endParaRPr sz="5400">
              <a:solidFill>
                <a:srgbClr val="999999"/>
              </a:solidFill>
            </a:endParaRPr>
          </a:p>
          <a:p>
            <a:pPr indent="0" lvl="0" marL="914400" rtl="0" algn="l">
              <a:spcBef>
                <a:spcPts val="1500"/>
              </a:spcBef>
              <a:spcAft>
                <a:spcPts val="0"/>
              </a:spcAft>
              <a:buNone/>
            </a:pPr>
            <a:r>
              <a:t/>
            </a:r>
            <a:endParaRPr sz="1200">
              <a:solidFill>
                <a:srgbClr val="000000"/>
              </a:solidFill>
              <a:latin typeface="Roboto"/>
              <a:ea typeface="Roboto"/>
              <a:cs typeface="Roboto"/>
              <a:sym typeface="Roboto"/>
            </a:endParaRPr>
          </a:p>
          <a:p>
            <a:pPr indent="0" lvl="0" marL="0" rtl="0" algn="l">
              <a:spcBef>
                <a:spcPts val="1500"/>
              </a:spcBef>
              <a:spcAft>
                <a:spcPts val="120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 </a:t>
            </a:r>
            <a:endParaRPr/>
          </a:p>
        </p:txBody>
      </p:sp>
      <p:sp>
        <p:nvSpPr>
          <p:cNvPr id="102" name="Google Shape;102;p20"/>
          <p:cNvSpPr txBox="1"/>
          <p:nvPr>
            <p:ph idx="1" type="body"/>
          </p:nvPr>
        </p:nvSpPr>
        <p:spPr>
          <a:xfrm>
            <a:off x="123850" y="1114675"/>
            <a:ext cx="8708400" cy="3788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sp>
        <p:nvSpPr>
          <p:cNvPr id="103" name="Google Shape;103;p20"/>
          <p:cNvSpPr txBox="1"/>
          <p:nvPr/>
        </p:nvSpPr>
        <p:spPr>
          <a:xfrm>
            <a:off x="335125" y="1362375"/>
            <a:ext cx="2681100" cy="3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
        <p:nvSpPr>
          <p:cNvPr id="104" name="Google Shape;104;p20"/>
          <p:cNvSpPr txBox="1"/>
          <p:nvPr/>
        </p:nvSpPr>
        <p:spPr>
          <a:xfrm>
            <a:off x="311700" y="1017725"/>
            <a:ext cx="2419200" cy="386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250">
                <a:solidFill>
                  <a:srgbClr val="999999"/>
                </a:solidFill>
                <a:latin typeface="Average"/>
                <a:ea typeface="Average"/>
                <a:cs typeface="Average"/>
                <a:sym typeface="Average"/>
              </a:rPr>
              <a:t>Lack of Generalization</a:t>
            </a:r>
            <a:endParaRPr sz="1250">
              <a:solidFill>
                <a:srgbClr val="999999"/>
              </a:solidFill>
              <a:latin typeface="Average"/>
              <a:ea typeface="Average"/>
              <a:cs typeface="Average"/>
              <a:sym typeface="Average"/>
            </a:endParaRPr>
          </a:p>
          <a:p>
            <a:pPr indent="-307975" lvl="0" marL="457200" rtl="0" algn="l">
              <a:lnSpc>
                <a:spcPct val="115000"/>
              </a:lnSpc>
              <a:spcBef>
                <a:spcPts val="1500"/>
              </a:spcBef>
              <a:spcAft>
                <a:spcPts val="0"/>
              </a:spcAft>
              <a:buClr>
                <a:srgbClr val="999999"/>
              </a:buClr>
              <a:buSzPts val="1250"/>
              <a:buFont typeface="Average"/>
              <a:buChar char="●"/>
            </a:pPr>
            <a:r>
              <a:rPr lang="en" sz="1250">
                <a:solidFill>
                  <a:srgbClr val="999999"/>
                </a:solidFill>
                <a:latin typeface="Average"/>
                <a:ea typeface="Average"/>
                <a:cs typeface="Average"/>
                <a:sym typeface="Average"/>
              </a:rPr>
              <a:t>Dataset Limitation: Evaluated only on Twitter and Internet Argument Corpus.</a:t>
            </a:r>
            <a:endParaRPr sz="1250">
              <a:solidFill>
                <a:srgbClr val="999999"/>
              </a:solidFill>
              <a:latin typeface="Average"/>
              <a:ea typeface="Average"/>
              <a:cs typeface="Average"/>
              <a:sym typeface="Average"/>
            </a:endParaRPr>
          </a:p>
          <a:p>
            <a:pPr indent="-307975" lvl="0" marL="457200" rtl="0" algn="l">
              <a:lnSpc>
                <a:spcPct val="115000"/>
              </a:lnSpc>
              <a:spcBef>
                <a:spcPts val="0"/>
              </a:spcBef>
              <a:spcAft>
                <a:spcPts val="0"/>
              </a:spcAft>
              <a:buClr>
                <a:srgbClr val="999999"/>
              </a:buClr>
              <a:buSzPts val="1250"/>
              <a:buFont typeface="Average"/>
              <a:buChar char="●"/>
            </a:pPr>
            <a:r>
              <a:rPr lang="en" sz="1250">
                <a:solidFill>
                  <a:srgbClr val="999999"/>
                </a:solidFill>
                <a:latin typeface="Average"/>
                <a:ea typeface="Average"/>
                <a:cs typeface="Average"/>
                <a:sym typeface="Average"/>
              </a:rPr>
              <a:t>No Diverse Testing: Lacks testing in other languages, genres, or modalities (audio, visual).</a:t>
            </a:r>
            <a:endParaRPr sz="1250">
              <a:solidFill>
                <a:srgbClr val="999999"/>
              </a:solidFill>
              <a:latin typeface="Average"/>
              <a:ea typeface="Average"/>
              <a:cs typeface="Average"/>
              <a:sym typeface="Average"/>
            </a:endParaRPr>
          </a:p>
          <a:p>
            <a:pPr indent="-307975" lvl="0" marL="457200" rtl="0" algn="l">
              <a:lnSpc>
                <a:spcPct val="115000"/>
              </a:lnSpc>
              <a:spcBef>
                <a:spcPts val="0"/>
              </a:spcBef>
              <a:spcAft>
                <a:spcPts val="0"/>
              </a:spcAft>
              <a:buClr>
                <a:srgbClr val="999999"/>
              </a:buClr>
              <a:buSzPts val="1250"/>
              <a:buFont typeface="Average"/>
              <a:buChar char="●"/>
            </a:pPr>
            <a:r>
              <a:rPr lang="en" sz="1250">
                <a:solidFill>
                  <a:srgbClr val="999999"/>
                </a:solidFill>
                <a:latin typeface="Average"/>
                <a:ea typeface="Average"/>
                <a:cs typeface="Average"/>
                <a:sym typeface="Average"/>
              </a:rPr>
              <a:t>No Comparative Analysis: Absence of comparison with state-of-the-art sarcasm detection methods.</a:t>
            </a:r>
            <a:endParaRPr sz="1250">
              <a:solidFill>
                <a:srgbClr val="999999"/>
              </a:solidFill>
              <a:latin typeface="Average"/>
              <a:ea typeface="Average"/>
              <a:cs typeface="Average"/>
              <a:sym typeface="Average"/>
            </a:endParaRPr>
          </a:p>
          <a:p>
            <a:pPr indent="0" lvl="0" marL="0" rtl="0" algn="l">
              <a:spcBef>
                <a:spcPts val="1500"/>
              </a:spcBef>
              <a:spcAft>
                <a:spcPts val="0"/>
              </a:spcAft>
              <a:buNone/>
            </a:pPr>
            <a:r>
              <a:t/>
            </a:r>
            <a:endParaRPr sz="1250">
              <a:solidFill>
                <a:srgbClr val="999999"/>
              </a:solidFill>
              <a:latin typeface="Average"/>
              <a:ea typeface="Average"/>
              <a:cs typeface="Average"/>
              <a:sym typeface="Average"/>
            </a:endParaRPr>
          </a:p>
        </p:txBody>
      </p:sp>
      <p:sp>
        <p:nvSpPr>
          <p:cNvPr id="105" name="Google Shape;105;p20"/>
          <p:cNvSpPr txBox="1"/>
          <p:nvPr/>
        </p:nvSpPr>
        <p:spPr>
          <a:xfrm>
            <a:off x="3091500" y="1017725"/>
            <a:ext cx="2787900" cy="397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250">
                <a:solidFill>
                  <a:schemeClr val="dk2"/>
                </a:solidFill>
                <a:latin typeface="Average"/>
                <a:ea typeface="Average"/>
                <a:cs typeface="Average"/>
                <a:sym typeface="Average"/>
              </a:rPr>
              <a:t>Context-Based Feature Technique</a:t>
            </a:r>
            <a:endParaRPr sz="1250">
              <a:solidFill>
                <a:schemeClr val="dk2"/>
              </a:solidFill>
              <a:latin typeface="Average"/>
              <a:ea typeface="Average"/>
              <a:cs typeface="Average"/>
              <a:sym typeface="Average"/>
            </a:endParaRPr>
          </a:p>
          <a:p>
            <a:pPr indent="-307975" lvl="0" marL="457200" rtl="0" algn="l">
              <a:lnSpc>
                <a:spcPct val="115000"/>
              </a:lnSpc>
              <a:spcBef>
                <a:spcPts val="150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Unclear Explanation: Insufficient details on how the technique identifies sarcasm.</a:t>
            </a:r>
            <a:endParaRPr sz="1250">
              <a:solidFill>
                <a:schemeClr val="dk2"/>
              </a:solidFill>
              <a:latin typeface="Average"/>
              <a:ea typeface="Average"/>
              <a:cs typeface="Average"/>
              <a:sym typeface="Average"/>
            </a:endParaRPr>
          </a:p>
          <a:p>
            <a:pPr indent="-307975" lvl="0" marL="457200" rtl="0" algn="l">
              <a:lnSpc>
                <a:spcPct val="115000"/>
              </a:lnSpc>
              <a:spcBef>
                <a:spcPts val="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Model Functioning: Lack of explanation on deep learning, BERT model's role in sentiment analysis.</a:t>
            </a:r>
            <a:endParaRPr sz="1250">
              <a:solidFill>
                <a:schemeClr val="dk2"/>
              </a:solidFill>
              <a:latin typeface="Average"/>
              <a:ea typeface="Average"/>
              <a:cs typeface="Average"/>
              <a:sym typeface="Average"/>
            </a:endParaRPr>
          </a:p>
          <a:p>
            <a:pPr indent="0" lvl="0" marL="0" rtl="0" algn="l">
              <a:lnSpc>
                <a:spcPct val="115000"/>
              </a:lnSpc>
              <a:spcBef>
                <a:spcPts val="1500"/>
              </a:spcBef>
              <a:spcAft>
                <a:spcPts val="0"/>
              </a:spcAft>
              <a:buNone/>
            </a:pPr>
            <a:r>
              <a:rPr lang="en" sz="1250">
                <a:solidFill>
                  <a:schemeClr val="dk2"/>
                </a:solidFill>
                <a:latin typeface="Average"/>
                <a:ea typeface="Average"/>
                <a:cs typeface="Average"/>
                <a:sym typeface="Average"/>
              </a:rPr>
              <a:t> Feature Fusion Technique</a:t>
            </a:r>
            <a:endParaRPr sz="1250">
              <a:solidFill>
                <a:schemeClr val="dk2"/>
              </a:solidFill>
              <a:latin typeface="Average"/>
              <a:ea typeface="Average"/>
              <a:cs typeface="Average"/>
              <a:sym typeface="Average"/>
            </a:endParaRPr>
          </a:p>
          <a:p>
            <a:pPr indent="-307975" lvl="0" marL="457200" rtl="0" algn="l">
              <a:lnSpc>
                <a:spcPct val="115000"/>
              </a:lnSpc>
              <a:spcBef>
                <a:spcPts val="150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No detailed insight into feature fusion for classification improvement.</a:t>
            </a:r>
            <a:endParaRPr sz="1250">
              <a:solidFill>
                <a:schemeClr val="dk2"/>
              </a:solidFill>
              <a:latin typeface="Average"/>
              <a:ea typeface="Average"/>
              <a:cs typeface="Average"/>
              <a:sym typeface="Average"/>
            </a:endParaRPr>
          </a:p>
          <a:p>
            <a:pPr indent="-307975" lvl="0" marL="457200" rtl="0" algn="l">
              <a:lnSpc>
                <a:spcPct val="115000"/>
              </a:lnSpc>
              <a:spcBef>
                <a:spcPts val="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Absence of examples or analysis of technique’s outputs and errors.</a:t>
            </a:r>
            <a:endParaRPr sz="1250">
              <a:solidFill>
                <a:schemeClr val="dk2"/>
              </a:solidFill>
              <a:latin typeface="Average"/>
              <a:ea typeface="Average"/>
              <a:cs typeface="Average"/>
              <a:sym typeface="Average"/>
            </a:endParaRPr>
          </a:p>
          <a:p>
            <a:pPr indent="0" lvl="0" marL="0" rtl="0" algn="l">
              <a:spcBef>
                <a:spcPts val="1500"/>
              </a:spcBef>
              <a:spcAft>
                <a:spcPts val="0"/>
              </a:spcAft>
              <a:buNone/>
            </a:pPr>
            <a:r>
              <a:t/>
            </a:r>
            <a:endParaRPr sz="1800">
              <a:solidFill>
                <a:schemeClr val="accent3"/>
              </a:solidFill>
              <a:latin typeface="Average"/>
              <a:ea typeface="Average"/>
              <a:cs typeface="Average"/>
              <a:sym typeface="Average"/>
            </a:endParaRPr>
          </a:p>
        </p:txBody>
      </p:sp>
      <p:sp>
        <p:nvSpPr>
          <p:cNvPr id="106" name="Google Shape;106;p20"/>
          <p:cNvSpPr txBox="1"/>
          <p:nvPr/>
        </p:nvSpPr>
        <p:spPr>
          <a:xfrm>
            <a:off x="6151200" y="1017725"/>
            <a:ext cx="2838900" cy="406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250">
                <a:solidFill>
                  <a:schemeClr val="dk2"/>
                </a:solidFill>
                <a:latin typeface="Average"/>
                <a:ea typeface="Average"/>
                <a:cs typeface="Average"/>
                <a:sym typeface="Average"/>
              </a:rPr>
              <a:t>Challenges and Limitations</a:t>
            </a:r>
            <a:endParaRPr sz="1250">
              <a:solidFill>
                <a:schemeClr val="dk2"/>
              </a:solidFill>
              <a:latin typeface="Average"/>
              <a:ea typeface="Average"/>
              <a:cs typeface="Average"/>
              <a:sym typeface="Average"/>
            </a:endParaRPr>
          </a:p>
          <a:p>
            <a:pPr indent="-307975" lvl="0" marL="457200" rtl="0" algn="l">
              <a:lnSpc>
                <a:spcPct val="115000"/>
              </a:lnSpc>
              <a:spcBef>
                <a:spcPts val="150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Dependency: Reliance on pre-trained word embeddings and BERT models.</a:t>
            </a:r>
            <a:endParaRPr sz="1250">
              <a:solidFill>
                <a:schemeClr val="dk2"/>
              </a:solidFill>
              <a:latin typeface="Average"/>
              <a:ea typeface="Average"/>
              <a:cs typeface="Average"/>
              <a:sym typeface="Average"/>
            </a:endParaRPr>
          </a:p>
          <a:p>
            <a:pPr indent="-307975" lvl="0" marL="457200" rtl="0" algn="l">
              <a:lnSpc>
                <a:spcPct val="115000"/>
              </a:lnSpc>
              <a:spcBef>
                <a:spcPts val="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Computational Complexity: Concerns about scalability and processing demands.</a:t>
            </a:r>
            <a:endParaRPr sz="1250">
              <a:solidFill>
                <a:schemeClr val="dk2"/>
              </a:solidFill>
              <a:latin typeface="Average"/>
              <a:ea typeface="Average"/>
              <a:cs typeface="Average"/>
              <a:sym typeface="Average"/>
            </a:endParaRPr>
          </a:p>
          <a:p>
            <a:pPr indent="-307975" lvl="0" marL="457200" rtl="0" algn="l">
              <a:lnSpc>
                <a:spcPct val="115000"/>
              </a:lnSpc>
              <a:spcBef>
                <a:spcPts val="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Limited adaptability to various sarcasm scenarios and styles.</a:t>
            </a:r>
            <a:endParaRPr sz="1250">
              <a:solidFill>
                <a:schemeClr val="dk2"/>
              </a:solidFill>
              <a:latin typeface="Average"/>
              <a:ea typeface="Average"/>
              <a:cs typeface="Average"/>
              <a:sym typeface="Average"/>
            </a:endParaRPr>
          </a:p>
          <a:p>
            <a:pPr indent="0" lvl="0" marL="0" rtl="0" algn="l">
              <a:lnSpc>
                <a:spcPct val="115000"/>
              </a:lnSpc>
              <a:spcBef>
                <a:spcPts val="1500"/>
              </a:spcBef>
              <a:spcAft>
                <a:spcPts val="0"/>
              </a:spcAft>
              <a:buNone/>
            </a:pPr>
            <a:r>
              <a:rPr lang="en" sz="1250">
                <a:solidFill>
                  <a:schemeClr val="dk2"/>
                </a:solidFill>
                <a:latin typeface="Average"/>
                <a:ea typeface="Average"/>
                <a:cs typeface="Average"/>
                <a:sym typeface="Average"/>
              </a:rPr>
              <a:t> Performance Evaluation</a:t>
            </a:r>
            <a:endParaRPr sz="1250">
              <a:solidFill>
                <a:schemeClr val="dk2"/>
              </a:solidFill>
              <a:latin typeface="Average"/>
              <a:ea typeface="Average"/>
              <a:cs typeface="Average"/>
              <a:sym typeface="Average"/>
            </a:endParaRPr>
          </a:p>
          <a:p>
            <a:pPr indent="-307975" lvl="0" marL="457200" rtl="0" algn="l">
              <a:lnSpc>
                <a:spcPct val="115000"/>
              </a:lnSpc>
              <a:spcBef>
                <a:spcPts val="150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No assessment in challenging conditions like noisy or incomplete data.</a:t>
            </a:r>
            <a:endParaRPr sz="1250">
              <a:solidFill>
                <a:schemeClr val="dk2"/>
              </a:solidFill>
              <a:latin typeface="Average"/>
              <a:ea typeface="Average"/>
              <a:cs typeface="Average"/>
              <a:sym typeface="Average"/>
            </a:endParaRPr>
          </a:p>
          <a:p>
            <a:pPr indent="-307975" lvl="0" marL="457200" rtl="0" algn="l">
              <a:lnSpc>
                <a:spcPct val="115000"/>
              </a:lnSpc>
              <a:spcBef>
                <a:spcPts val="0"/>
              </a:spcBef>
              <a:spcAft>
                <a:spcPts val="0"/>
              </a:spcAft>
              <a:buClr>
                <a:schemeClr val="dk2"/>
              </a:buClr>
              <a:buSzPts val="1250"/>
              <a:buFont typeface="Average"/>
              <a:buChar char="●"/>
            </a:pPr>
            <a:r>
              <a:rPr lang="en" sz="1250">
                <a:solidFill>
                  <a:schemeClr val="dk2"/>
                </a:solidFill>
                <a:latin typeface="Average"/>
                <a:ea typeface="Average"/>
                <a:cs typeface="Average"/>
                <a:sym typeface="Average"/>
              </a:rPr>
              <a:t>Lack of testing with different hyperparameters and configurations.</a:t>
            </a:r>
            <a:endParaRPr sz="1250">
              <a:solidFill>
                <a:schemeClr val="dk2"/>
              </a:solidFill>
              <a:latin typeface="Average"/>
              <a:ea typeface="Average"/>
              <a:cs typeface="Average"/>
              <a:sym typeface="Average"/>
            </a:endParaRPr>
          </a:p>
          <a:p>
            <a:pPr indent="0" lvl="0" marL="0" rtl="0" algn="l">
              <a:spcBef>
                <a:spcPts val="150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225125" y="1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Algorithms : </a:t>
            </a:r>
            <a:endParaRPr/>
          </a:p>
        </p:txBody>
      </p:sp>
      <p:sp>
        <p:nvSpPr>
          <p:cNvPr id="112" name="Google Shape;112;p21"/>
          <p:cNvSpPr txBox="1"/>
          <p:nvPr>
            <p:ph idx="1" type="body"/>
          </p:nvPr>
        </p:nvSpPr>
        <p:spPr>
          <a:xfrm>
            <a:off x="228600" y="740850"/>
            <a:ext cx="8812500" cy="4329900"/>
          </a:xfrm>
          <a:prstGeom prst="rect">
            <a:avLst/>
          </a:prstGeom>
        </p:spPr>
        <p:txBody>
          <a:bodyPr anchorCtr="0" anchor="t" bIns="91425" lIns="91425" spcFirstLastPara="1" rIns="91425" wrap="square" tIns="91425">
            <a:normAutofit fontScale="25000" lnSpcReduction="20000"/>
          </a:bodyPr>
          <a:lstStyle/>
          <a:p>
            <a:pPr indent="-307181" lvl="0" marL="457200" rtl="0" algn="l">
              <a:spcBef>
                <a:spcPts val="1500"/>
              </a:spcBef>
              <a:spcAft>
                <a:spcPts val="0"/>
              </a:spcAft>
              <a:buClr>
                <a:schemeClr val="dk2"/>
              </a:buClr>
              <a:buSzPct val="100000"/>
              <a:buFont typeface="Average"/>
              <a:buChar char="●"/>
            </a:pPr>
            <a:r>
              <a:rPr lang="en" sz="4950">
                <a:solidFill>
                  <a:schemeClr val="dk2"/>
                </a:solidFill>
              </a:rPr>
              <a:t>Context-Based Feature Technique</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Combines deep learning and BERT model.</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Captures key information and sentiment in sarcasm.</a:t>
            </a:r>
            <a:endParaRPr sz="4950">
              <a:solidFill>
                <a:schemeClr val="dk2"/>
              </a:solidFill>
            </a:endParaRPr>
          </a:p>
          <a:p>
            <a:pPr indent="-307181" lvl="0" marL="457200" rtl="0" algn="l">
              <a:spcBef>
                <a:spcPts val="0"/>
              </a:spcBef>
              <a:spcAft>
                <a:spcPts val="0"/>
              </a:spcAft>
              <a:buClr>
                <a:schemeClr val="dk2"/>
              </a:buClr>
              <a:buSzPct val="100000"/>
              <a:buFont typeface="Average"/>
              <a:buChar char="●"/>
            </a:pPr>
            <a:r>
              <a:rPr lang="en" sz="4950">
                <a:solidFill>
                  <a:schemeClr val="dk2"/>
                </a:solidFill>
              </a:rPr>
              <a:t>Bi-LSTM Usage</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Bidirectional Long Short Term Memory for context learning.</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Part of Recurrent Neural Network (RNN) family.</a:t>
            </a:r>
            <a:endParaRPr sz="4950">
              <a:solidFill>
                <a:schemeClr val="dk2"/>
              </a:solidFill>
            </a:endParaRPr>
          </a:p>
          <a:p>
            <a:pPr indent="-307181" lvl="0" marL="457200" rtl="0" algn="l">
              <a:spcBef>
                <a:spcPts val="0"/>
              </a:spcBef>
              <a:spcAft>
                <a:spcPts val="0"/>
              </a:spcAft>
              <a:buClr>
                <a:schemeClr val="dk2"/>
              </a:buClr>
              <a:buSzPct val="100000"/>
              <a:buFont typeface="Average"/>
              <a:buChar char="●"/>
            </a:pPr>
            <a:r>
              <a:rPr lang="en" sz="4950">
                <a:solidFill>
                  <a:schemeClr val="dk2"/>
                </a:solidFill>
              </a:rPr>
              <a:t>BERT Implementation</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Bidirectional Encoder Representations from Transformers.</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Pre-trained model for encoding word context.</a:t>
            </a:r>
            <a:endParaRPr sz="4950">
              <a:solidFill>
                <a:schemeClr val="dk2"/>
              </a:solidFill>
            </a:endParaRPr>
          </a:p>
          <a:p>
            <a:pPr indent="0" lvl="0" marL="0" rtl="0" algn="l">
              <a:spcBef>
                <a:spcPts val="1500"/>
              </a:spcBef>
              <a:spcAft>
                <a:spcPts val="0"/>
              </a:spcAft>
              <a:buNone/>
            </a:pPr>
            <a:r>
              <a:rPr lang="en" sz="4950">
                <a:solidFill>
                  <a:schemeClr val="dk2"/>
                </a:solidFill>
              </a:rPr>
              <a:t>2. Word Embedding and Context Learning</a:t>
            </a:r>
            <a:endParaRPr sz="4950">
              <a:solidFill>
                <a:schemeClr val="dk2"/>
              </a:solidFill>
            </a:endParaRPr>
          </a:p>
          <a:p>
            <a:pPr indent="-307181" lvl="0" marL="457200" rtl="0" algn="l">
              <a:spcBef>
                <a:spcPts val="1500"/>
              </a:spcBef>
              <a:spcAft>
                <a:spcPts val="0"/>
              </a:spcAft>
              <a:buClr>
                <a:schemeClr val="dk2"/>
              </a:buClr>
              <a:buSzPct val="100000"/>
              <a:buFont typeface="Average"/>
              <a:buChar char="●"/>
            </a:pPr>
            <a:r>
              <a:rPr lang="en" sz="4950">
                <a:solidFill>
                  <a:schemeClr val="dk2"/>
                </a:solidFill>
              </a:rPr>
              <a:t>Global Vector Representation (GloVe)</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Utilized for constructing word embedding.</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Assists in context learning features.</a:t>
            </a:r>
            <a:endParaRPr sz="4950">
              <a:solidFill>
                <a:schemeClr val="dk2"/>
              </a:solidFill>
            </a:endParaRPr>
          </a:p>
          <a:p>
            <a:pPr indent="0" lvl="0" marL="0" rtl="0" algn="l">
              <a:spcBef>
                <a:spcPts val="1500"/>
              </a:spcBef>
              <a:spcAft>
                <a:spcPts val="0"/>
              </a:spcAft>
              <a:buNone/>
            </a:pPr>
            <a:r>
              <a:rPr lang="en" sz="4950">
                <a:solidFill>
                  <a:schemeClr val="dk2"/>
                </a:solidFill>
              </a:rPr>
              <a:t>3. Feature Fusion Technique</a:t>
            </a:r>
            <a:endParaRPr sz="4950">
              <a:solidFill>
                <a:schemeClr val="dk2"/>
              </a:solidFill>
            </a:endParaRPr>
          </a:p>
          <a:p>
            <a:pPr indent="-307181" lvl="0" marL="457200" rtl="0" algn="l">
              <a:spcBef>
                <a:spcPts val="1500"/>
              </a:spcBef>
              <a:spcAft>
                <a:spcPts val="0"/>
              </a:spcAft>
              <a:buClr>
                <a:schemeClr val="dk2"/>
              </a:buClr>
              <a:buSzPct val="100000"/>
              <a:buFont typeface="Average"/>
              <a:buChar char="●"/>
            </a:pPr>
            <a:r>
              <a:rPr lang="en" sz="4950">
                <a:solidFill>
                  <a:schemeClr val="dk2"/>
                </a:solidFill>
              </a:rPr>
              <a:t>Combination of Diverse Features</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Integrates BERT, hashtag, sentiment-related, syntactic, and GloVe embedding features.</a:t>
            </a:r>
            <a:endParaRPr sz="4950">
              <a:solidFill>
                <a:schemeClr val="dk2"/>
              </a:solidFill>
            </a:endParaRPr>
          </a:p>
          <a:p>
            <a:pPr indent="-307181" lvl="0" marL="457200" rtl="0" algn="l">
              <a:spcBef>
                <a:spcPts val="0"/>
              </a:spcBef>
              <a:spcAft>
                <a:spcPts val="0"/>
              </a:spcAft>
              <a:buClr>
                <a:schemeClr val="dk2"/>
              </a:buClr>
              <a:buSzPct val="100000"/>
              <a:buFont typeface="Average"/>
              <a:buChar char="●"/>
            </a:pPr>
            <a:r>
              <a:rPr lang="en" sz="4950">
                <a:solidFill>
                  <a:schemeClr val="dk2"/>
                </a:solidFill>
              </a:rPr>
              <a:t>Machine Learning Algorithms</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Support Vector Machine (SVM) and Random Forest (RF) for feature fusion.</a:t>
            </a:r>
            <a:endParaRPr sz="4950">
              <a:solidFill>
                <a:schemeClr val="dk2"/>
              </a:solidFill>
            </a:endParaRPr>
          </a:p>
          <a:p>
            <a:pPr indent="-307181" lvl="1" marL="914400" rtl="0" algn="l">
              <a:spcBef>
                <a:spcPts val="0"/>
              </a:spcBef>
              <a:spcAft>
                <a:spcPts val="0"/>
              </a:spcAft>
              <a:buClr>
                <a:schemeClr val="dk2"/>
              </a:buClr>
              <a:buSzPct val="100000"/>
              <a:buFont typeface="Average"/>
              <a:buChar char="●"/>
            </a:pPr>
            <a:r>
              <a:rPr lang="en" sz="4950">
                <a:solidFill>
                  <a:schemeClr val="dk2"/>
                </a:solidFill>
              </a:rPr>
              <a:t>Classifies text into sarcastic or non-sarcastic categories.</a:t>
            </a:r>
            <a:endParaRPr sz="4950">
              <a:solidFill>
                <a:schemeClr val="dk2"/>
              </a:solidFill>
            </a:endParaRPr>
          </a:p>
          <a:p>
            <a:pPr indent="0" lvl="0" marL="0" rtl="0" algn="l">
              <a:spcBef>
                <a:spcPts val="15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231550" y="241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and Accuracy: </a:t>
            </a:r>
            <a:endParaRPr/>
          </a:p>
        </p:txBody>
      </p:sp>
      <p:sp>
        <p:nvSpPr>
          <p:cNvPr id="118" name="Google Shape;118;p22"/>
          <p:cNvSpPr txBox="1"/>
          <p:nvPr>
            <p:ph idx="1" type="body"/>
          </p:nvPr>
        </p:nvSpPr>
        <p:spPr>
          <a:xfrm>
            <a:off x="87425" y="813750"/>
            <a:ext cx="8946600" cy="4329900"/>
          </a:xfrm>
          <a:prstGeom prst="rect">
            <a:avLst/>
          </a:prstGeom>
        </p:spPr>
        <p:txBody>
          <a:bodyPr anchorCtr="0" anchor="t" bIns="91425" lIns="91425" spcFirstLastPara="1" rIns="91425" wrap="square" tIns="91425">
            <a:noAutofit/>
          </a:bodyPr>
          <a:lstStyle/>
          <a:p>
            <a:pPr indent="0" lvl="0" marL="0" rtl="0" algn="l">
              <a:spcBef>
                <a:spcPts val="1500"/>
              </a:spcBef>
              <a:spcAft>
                <a:spcPts val="0"/>
              </a:spcAft>
              <a:buNone/>
            </a:pPr>
            <a:r>
              <a:rPr lang="en" sz="1100">
                <a:solidFill>
                  <a:schemeClr val="dk2"/>
                </a:solidFill>
              </a:rPr>
              <a:t>1. Performance on Twitter Datasets</a:t>
            </a:r>
            <a:endParaRPr sz="1100">
              <a:solidFill>
                <a:schemeClr val="dk2"/>
              </a:solidFill>
            </a:endParaRPr>
          </a:p>
          <a:p>
            <a:pPr indent="-298450" lvl="0" marL="457200" rtl="0" algn="l">
              <a:spcBef>
                <a:spcPts val="1500"/>
              </a:spcBef>
              <a:spcAft>
                <a:spcPts val="0"/>
              </a:spcAft>
              <a:buClr>
                <a:schemeClr val="dk2"/>
              </a:buClr>
              <a:buSzPts val="1100"/>
              <a:buFont typeface="Average"/>
              <a:buChar char="●"/>
            </a:pPr>
            <a:r>
              <a:rPr lang="en" sz="1100">
                <a:solidFill>
                  <a:schemeClr val="dk2"/>
                </a:solidFill>
              </a:rPr>
              <a:t>Comparison with Baseline Methods</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Compared against Riloff et al., Ghosh and Veale, Bouazizi and Ohtsuki, Rajadesingan et al.</a:t>
            </a:r>
            <a:endParaRPr sz="1100">
              <a:solidFill>
                <a:schemeClr val="dk2"/>
              </a:solidFill>
            </a:endParaRPr>
          </a:p>
          <a:p>
            <a:pPr indent="-298450" lvl="0" marL="457200" rtl="0" algn="l">
              <a:spcBef>
                <a:spcPts val="0"/>
              </a:spcBef>
              <a:spcAft>
                <a:spcPts val="0"/>
              </a:spcAft>
              <a:buClr>
                <a:schemeClr val="dk2"/>
              </a:buClr>
              <a:buSzPts val="1100"/>
              <a:buFont typeface="Average"/>
              <a:buChar char="●"/>
            </a:pPr>
            <a:r>
              <a:rPr lang="en" sz="1100">
                <a:solidFill>
                  <a:schemeClr val="dk2"/>
                </a:solidFill>
              </a:rPr>
              <a:t>High Precision Achieved</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98.5% on Riloff et al. dataset</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98.0% on Ghosh and Veale dataset</a:t>
            </a:r>
            <a:endParaRPr sz="1100">
              <a:solidFill>
                <a:schemeClr val="dk2"/>
              </a:solidFill>
            </a:endParaRPr>
          </a:p>
          <a:p>
            <a:pPr indent="-298450" lvl="0" marL="457200" rtl="0" algn="l">
              <a:spcBef>
                <a:spcPts val="0"/>
              </a:spcBef>
              <a:spcAft>
                <a:spcPts val="0"/>
              </a:spcAft>
              <a:buClr>
                <a:schemeClr val="dk2"/>
              </a:buClr>
              <a:buSzPts val="1100"/>
              <a:buFont typeface="Average"/>
              <a:buChar char="●"/>
            </a:pPr>
            <a:r>
              <a:rPr lang="en" sz="1100">
                <a:solidFill>
                  <a:schemeClr val="dk2"/>
                </a:solidFill>
              </a:rPr>
              <a:t>Superior Recall and F1-Score</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Outperforms baselines in recall and F1-score</a:t>
            </a:r>
            <a:endParaRPr sz="1100">
              <a:solidFill>
                <a:schemeClr val="dk2"/>
              </a:solidFill>
            </a:endParaRPr>
          </a:p>
          <a:p>
            <a:pPr indent="-298450" lvl="0" marL="457200" rtl="0" algn="l">
              <a:spcBef>
                <a:spcPts val="0"/>
              </a:spcBef>
              <a:spcAft>
                <a:spcPts val="0"/>
              </a:spcAft>
              <a:buClr>
                <a:schemeClr val="dk2"/>
              </a:buClr>
              <a:buSzPts val="1100"/>
              <a:buFont typeface="Average"/>
              <a:buChar char="●"/>
            </a:pPr>
            <a:r>
              <a:rPr lang="en" sz="1100">
                <a:solidFill>
                  <a:schemeClr val="dk2"/>
                </a:solidFill>
              </a:rPr>
              <a:t>Success Factors</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Deep learning, BERT model, feature fusion for context and sentiment analysis</a:t>
            </a:r>
            <a:endParaRPr sz="1100">
              <a:solidFill>
                <a:schemeClr val="dk2"/>
              </a:solidFill>
            </a:endParaRPr>
          </a:p>
          <a:p>
            <a:pPr indent="0" lvl="0" marL="0" rtl="0" algn="l">
              <a:spcBef>
                <a:spcPts val="1500"/>
              </a:spcBef>
              <a:spcAft>
                <a:spcPts val="0"/>
              </a:spcAft>
              <a:buNone/>
            </a:pPr>
            <a:r>
              <a:rPr lang="en" sz="1100">
                <a:solidFill>
                  <a:schemeClr val="dk2"/>
                </a:solidFill>
              </a:rPr>
              <a:t>2. Performance on IAC-v2 Dataset</a:t>
            </a:r>
            <a:endParaRPr sz="1100">
              <a:solidFill>
                <a:schemeClr val="dk2"/>
              </a:solidFill>
            </a:endParaRPr>
          </a:p>
          <a:p>
            <a:pPr indent="-298450" lvl="0" marL="457200" rtl="0" algn="l">
              <a:spcBef>
                <a:spcPts val="1500"/>
              </a:spcBef>
              <a:spcAft>
                <a:spcPts val="0"/>
              </a:spcAft>
              <a:buClr>
                <a:schemeClr val="dk2"/>
              </a:buClr>
              <a:buSzPts val="1100"/>
              <a:buFont typeface="Average"/>
              <a:buChar char="●"/>
            </a:pPr>
            <a:r>
              <a:rPr lang="en" sz="1100">
                <a:solidFill>
                  <a:schemeClr val="dk2"/>
                </a:solidFill>
              </a:rPr>
              <a:t>Comparison with Baseline Methods</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Compared against Ptáček et al. and Majumder et al.</a:t>
            </a:r>
            <a:endParaRPr sz="1100">
              <a:solidFill>
                <a:schemeClr val="dk2"/>
              </a:solidFill>
            </a:endParaRPr>
          </a:p>
          <a:p>
            <a:pPr indent="-298450" lvl="0" marL="457200" rtl="0" algn="l">
              <a:spcBef>
                <a:spcPts val="0"/>
              </a:spcBef>
              <a:spcAft>
                <a:spcPts val="0"/>
              </a:spcAft>
              <a:buClr>
                <a:schemeClr val="dk2"/>
              </a:buClr>
              <a:buSzPts val="1100"/>
              <a:buFont typeface="Average"/>
              <a:buChar char="●"/>
            </a:pPr>
            <a:r>
              <a:rPr lang="en" sz="1100">
                <a:solidFill>
                  <a:schemeClr val="dk2"/>
                </a:solidFill>
              </a:rPr>
              <a:t>Precision on Complex Posts</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Achieves 81.2% precision on IAC-v2 dataset</a:t>
            </a:r>
            <a:endParaRPr sz="1100">
              <a:solidFill>
                <a:schemeClr val="dk2"/>
              </a:solidFill>
            </a:endParaRPr>
          </a:p>
          <a:p>
            <a:pPr indent="-298450" lvl="0" marL="457200" rtl="0" algn="l">
              <a:spcBef>
                <a:spcPts val="0"/>
              </a:spcBef>
              <a:spcAft>
                <a:spcPts val="0"/>
              </a:spcAft>
              <a:buClr>
                <a:schemeClr val="dk2"/>
              </a:buClr>
              <a:buSzPts val="1100"/>
              <a:buFont typeface="Average"/>
              <a:buChar char="●"/>
            </a:pPr>
            <a:r>
              <a:rPr lang="en" sz="1100">
                <a:solidFill>
                  <a:schemeClr val="dk2"/>
                </a:solidFill>
              </a:rPr>
              <a:t>Outperformance in Recall and F1-Score</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Superior to baselines in recall and F1-score</a:t>
            </a:r>
            <a:endParaRPr sz="1100">
              <a:solidFill>
                <a:schemeClr val="dk2"/>
              </a:solidFill>
            </a:endParaRPr>
          </a:p>
          <a:p>
            <a:pPr indent="-298450" lvl="0" marL="457200" rtl="0" algn="l">
              <a:spcBef>
                <a:spcPts val="0"/>
              </a:spcBef>
              <a:spcAft>
                <a:spcPts val="0"/>
              </a:spcAft>
              <a:buClr>
                <a:schemeClr val="dk2"/>
              </a:buClr>
              <a:buSzPts val="1100"/>
              <a:buFont typeface="Average"/>
              <a:buChar char="●"/>
            </a:pPr>
            <a:r>
              <a:rPr lang="en" sz="1100">
                <a:solidFill>
                  <a:schemeClr val="dk2"/>
                </a:solidFill>
              </a:rPr>
              <a:t>Capability</a:t>
            </a:r>
            <a:endParaRPr sz="1100">
              <a:solidFill>
                <a:schemeClr val="dk2"/>
              </a:solidFill>
            </a:endParaRPr>
          </a:p>
          <a:p>
            <a:pPr indent="-298450" lvl="1" marL="914400" rtl="0" algn="l">
              <a:spcBef>
                <a:spcPts val="0"/>
              </a:spcBef>
              <a:spcAft>
                <a:spcPts val="0"/>
              </a:spcAft>
              <a:buClr>
                <a:schemeClr val="dk2"/>
              </a:buClr>
              <a:buSzPts val="1100"/>
              <a:buFont typeface="Average"/>
              <a:buChar char="●"/>
            </a:pPr>
            <a:r>
              <a:rPr lang="en" sz="1100">
                <a:solidFill>
                  <a:schemeClr val="dk2"/>
                </a:solidFill>
              </a:rPr>
              <a:t>Effective in handling longer, complex posts with irony, exaggeration, rhetorical questions</a:t>
            </a:r>
            <a:endParaRPr sz="1100">
              <a:solidFill>
                <a:schemeClr val="dk2"/>
              </a:solidFill>
            </a:endParaRPr>
          </a:p>
          <a:p>
            <a:pPr indent="0" lvl="0" marL="0" rtl="0" algn="l">
              <a:spcBef>
                <a:spcPts val="1500"/>
              </a:spcBef>
              <a:spcAft>
                <a:spcPts val="1200"/>
              </a:spcAft>
              <a:buNone/>
            </a:pPr>
            <a:r>
              <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t/>
            </a:r>
            <a:endParaRPr sz="1350">
              <a:solidFill>
                <a:schemeClr val="dk2"/>
              </a:solidFill>
            </a:endParaRPr>
          </a:p>
          <a:p>
            <a:pPr indent="0" lvl="0" marL="0" rtl="0" algn="l">
              <a:spcBef>
                <a:spcPts val="1200"/>
              </a:spcBef>
              <a:spcAft>
                <a:spcPts val="0"/>
              </a:spcAft>
              <a:buNone/>
            </a:pPr>
            <a:r>
              <a:rPr lang="en" sz="1350">
                <a:solidFill>
                  <a:schemeClr val="dk2"/>
                </a:solidFill>
              </a:rPr>
              <a:t>This paper presents a novel context-based feature technique for sarcasm identification in textual data, using deep learning, BERT model, and feature fusion. The paper proposes to capture the key information and sentiment polarity in sarcastic expressions by using GloVe embedding, Bi-LSTM, and BERT features. The paper also proposes to combine different types of features, such as hashtag, sentiment related, and syntactic features, to improve the classification performance. The paper evaluates the technique on three benchmark datasets from Twitter and Internet Argument Corpus, and compares it with baseline methods based on linguistic, pattern, and behavioural features.</a:t>
            </a:r>
            <a:endParaRPr sz="1350">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